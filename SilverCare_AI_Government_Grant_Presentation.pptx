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'SilverCare AI' 사업 과제 발표를 맡은 주관기관 대표 전효철입니다. 오늘 저희가 선보일 솔루션은 AI 텔레메트리 기술을 활용하여 초고령사회 독거노인의 고독사를 예방하고, 위급 상황 발생 시 3분 이내에 사회복지사가 현장에 출동하도록 연계하는 스마트 관제 플랫폼입니다.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2026년 대한민국은 65세 이상 인구가 20%를 넘어서는 초고령사회에 접어들었습니다. 독거노인 가구는 200만을 넘었지만, 현장의 사회복지사 한 명이 담당해야 하는 어르신은 40가구에 달합니다. 기존 센서는 오작동이 많고 쓰러짐이나 질환 발생 시 관제 센터와 현장 출동 복지사 간에 데이터가 즉시 공유되지 않아 골든타임을 놓치는 비극이 반복되고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SilverCare AI는 이 문제를 해결하기 위해 4단계 통합 파이프라인을 구축했습니다. 어르신 댁내 멀티 센서 데이터를 수집하여 AI가 위험도를 4단계로 자동 판단하고, 관제 센터 팝업과 동시에 담당 사회복지사 스마트폰으로 위험 정보와 어르신 기저질환을 즉시 전송합니다. 현장 출동부터 보호자 통보까지 단 3분 만에 완료됩니다.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 보이시는 대시보드가 저희가 실제 구현한 SilverCare 관제 센터 프로토타입입니다. 우측 상단의 'AI 센서 모의 발생기'를 클릭하면 어르신의 SOS 버튼 작동이나 24시간 활동 중단 신호가 실시간 텔레메트리로 전송되고, 관제판에 긴급 경보와 함께 담당 복지사의 출동 지시 버튼이 활성화됩니다. 조치 완료 시 보호자에게도 자동 알림이 전송됩니다.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비즈니스 모델은 지자체 고독사 예방 예산을 활용하는 B2G 리스 모델과 타지 거주 자녀를 타겟으로 하는 B2C 월 구독 모델로 구성됩니다. 1년차 마포구 150가구 시범 사업을 시작으로 3년 차에는 전국 229개 시군구 확장을 통해 50억 원의 매출을 달성하겠습니다.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생성형 AI와 멀티에이전트, 고성능 대시보드 시스템을 직접 설계하고 구현할 수 있는 풀스택 개발 역량을 갖추고 있습니다. 총 2억 원의 사업비 중 75%를 핵심 개발 인력과 센서 인프라에 투입하여 12개월 이내에 완성도 높은 시스템을 납품하겠습니다.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SilverCare AI는 단순한 기술 개발을 넘어 단 한 명의 어르신도 홀로 방치되지 않는 따뜻한 사회적 안전망을 만드는 과제입니다. 경청해 주셔서 감사합니다. 질의응답에 성심껏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1645920"/>
            <a:ext cx="10332720" cy="3657600"/>
          </a:xfrm>
          <a:prstGeom prst="rect">
            <a:avLst/>
          </a:prstGeom>
          <a:noFill/>
        </p:spPr>
        <p:txBody>
          <a:bodyPr wrap="square">
            <a:spAutoFit/>
          </a:bodyPr>
          <a:lstStyle/>
          <a:p>
            <a:pPr>
              <a:defRPr sz="2800" b="1">
                <a:solidFill>
                  <a:srgbClr val="38BDF8"/>
                </a:solidFill>
                <a:latin typeface="Outfit"/>
              </a:defRPr>
            </a:pPr>
            <a:r>
              <a:t>생성형 AI 및 IoT 텔레메트리 기반 독거노인 관제 &amp; 사회복지사 실시간 연계 플랫폼</a:t>
            </a:r>
          </a:p>
          <a:p>
            <a:pPr>
              <a:spcBef>
                <a:spcPts val="1000"/>
              </a:spcBef>
              <a:defRPr sz="4400" b="1">
                <a:solidFill>
                  <a:srgbClr val="F8FAFC"/>
                </a:solidFill>
                <a:latin typeface="Outfit"/>
              </a:defRPr>
            </a:pPr>
            <a:r>
              <a:t>SilverCare AI</a:t>
            </a:r>
          </a:p>
          <a:p>
            <a:pPr>
              <a:spcBef>
                <a:spcPts val="1000"/>
              </a:spcBef>
              <a:defRPr sz="2000">
                <a:solidFill>
                  <a:srgbClr val="94A3B8"/>
                </a:solidFill>
                <a:latin typeface="Inter"/>
              </a:defRPr>
            </a:pPr>
            <a:r>
              <a:t>초고령사회 고독사 예방을 위한 스마트 골든타임 케어 솔루션</a:t>
            </a:r>
          </a:p>
          <a:p>
            <a:pPr>
              <a:spcBef>
                <a:spcPts val="3000"/>
              </a:spcBef>
              <a:defRPr sz="1400">
                <a:solidFill>
                  <a:srgbClr val="38BDF8"/>
                </a:solidFill>
                <a:latin typeface="Inter"/>
              </a:defRPr>
            </a:pPr>
            <a:r>
              <a:t>발표자: 전효철 (AI &amp; Full-Stack Software Engineer)</a:t>
            </a:r>
            <a:br/>
            <a:r>
              <a:t>시연 주소: http://localhost:8085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457200"/>
            <a:ext cx="10332720" cy="914400"/>
          </a:xfrm>
          <a:prstGeom prst="rect">
            <a:avLst/>
          </a:prstGeom>
          <a:noFill/>
        </p:spPr>
        <p:txBody>
          <a:bodyPr wrap="none">
            <a:spAutoFit/>
          </a:bodyPr>
          <a:lstStyle/>
          <a:p>
            <a:pPr>
              <a:defRPr sz="2400" b="1">
                <a:solidFill>
                  <a:srgbClr val="F8FAFC"/>
                </a:solidFill>
                <a:latin typeface="Outfit"/>
              </a:defRPr>
            </a:pPr>
            <a:r>
              <a:t>추진 배경 및 해결하고자 하는 문제 (Problem)</a:t>
            </a:r>
          </a:p>
        </p:txBody>
      </p:sp>
      <p:sp>
        <p:nvSpPr>
          <p:cNvPr id="3" name="Rectangle 2"/>
          <p:cNvSpPr/>
          <p:nvPr/>
        </p:nvSpPr>
        <p:spPr>
          <a:xfrm>
            <a:off x="914400" y="1645920"/>
            <a:ext cx="320040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2834640" cy="3749040"/>
          </a:xfrm>
          <a:prstGeom prst="rect">
            <a:avLst/>
          </a:prstGeom>
          <a:noFill/>
        </p:spPr>
        <p:txBody>
          <a:bodyPr wrap="square">
            <a:spAutoFit/>
          </a:bodyPr>
          <a:lstStyle/>
          <a:p>
            <a:pPr>
              <a:defRPr sz="1800" b="1">
                <a:solidFill>
                  <a:srgbClr val="38BDF8"/>
                </a:solidFill>
                <a:latin typeface="Outfit"/>
              </a:defRPr>
            </a:pPr>
            <a:r>
              <a:t>01. 사회복지사 인력 부족</a:t>
            </a:r>
          </a:p>
          <a:p>
            <a:pPr>
              <a:spcBef>
                <a:spcPts val="2000"/>
              </a:spcBef>
              <a:defRPr sz="1300">
                <a:solidFill>
                  <a:srgbClr val="94A3B8"/>
                </a:solidFill>
                <a:latin typeface="Inter"/>
              </a:defRPr>
            </a:pPr>
            <a:r>
              <a:t>복지사 1인당 30~50가구 담당</a:t>
            </a:r>
            <a:br/>
            <a:r>
              <a:t>업무 과중으로 밀착 모니터링 및 실시간 돌봄 공백 발생</a:t>
            </a:r>
          </a:p>
        </p:txBody>
      </p:sp>
      <p:sp>
        <p:nvSpPr>
          <p:cNvPr id="5" name="Rectangle 4"/>
          <p:cNvSpPr/>
          <p:nvPr/>
        </p:nvSpPr>
        <p:spPr>
          <a:xfrm>
            <a:off x="4389120" y="1645920"/>
            <a:ext cx="320040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2834640" cy="3749040"/>
          </a:xfrm>
          <a:prstGeom prst="rect">
            <a:avLst/>
          </a:prstGeom>
          <a:noFill/>
        </p:spPr>
        <p:txBody>
          <a:bodyPr wrap="square">
            <a:spAutoFit/>
          </a:bodyPr>
          <a:lstStyle/>
          <a:p>
            <a:pPr>
              <a:defRPr sz="1800" b="1">
                <a:solidFill>
                  <a:srgbClr val="38BDF8"/>
                </a:solidFill>
                <a:latin typeface="Outfit"/>
              </a:defRPr>
            </a:pPr>
            <a:r>
              <a:t>02. 단순 센서의 높은 오작동</a:t>
            </a:r>
          </a:p>
          <a:p>
            <a:pPr>
              <a:spcBef>
                <a:spcPts val="2000"/>
              </a:spcBef>
              <a:defRPr sz="1300">
                <a:solidFill>
                  <a:srgbClr val="94A3B8"/>
                </a:solidFill>
                <a:latin typeface="Inter"/>
              </a:defRPr>
            </a:pPr>
            <a:r>
              <a:t>기존 센서의 빈번한 오탐지로 관제 피로 누적 및 쓰러짐 등 실제 긴급상황 골든타임 감지 지연</a:t>
            </a:r>
          </a:p>
        </p:txBody>
      </p:sp>
      <p:sp>
        <p:nvSpPr>
          <p:cNvPr id="7" name="Rectangle 6"/>
          <p:cNvSpPr/>
          <p:nvPr/>
        </p:nvSpPr>
        <p:spPr>
          <a:xfrm>
            <a:off x="7863840" y="1645920"/>
            <a:ext cx="320040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828800"/>
            <a:ext cx="2834640" cy="3749040"/>
          </a:xfrm>
          <a:prstGeom prst="rect">
            <a:avLst/>
          </a:prstGeom>
          <a:noFill/>
        </p:spPr>
        <p:txBody>
          <a:bodyPr wrap="square">
            <a:spAutoFit/>
          </a:bodyPr>
          <a:lstStyle/>
          <a:p>
            <a:pPr>
              <a:defRPr sz="1800" b="1">
                <a:solidFill>
                  <a:srgbClr val="38BDF8"/>
                </a:solidFill>
                <a:latin typeface="Outfit"/>
              </a:defRPr>
            </a:pPr>
            <a:r>
              <a:t>03. 데이터의 연동성 부재</a:t>
            </a:r>
          </a:p>
          <a:p>
            <a:pPr>
              <a:spcBef>
                <a:spcPts val="2000"/>
              </a:spcBef>
              <a:defRPr sz="1300">
                <a:solidFill>
                  <a:srgbClr val="94A3B8"/>
                </a:solidFill>
                <a:latin typeface="Inter"/>
              </a:defRPr>
            </a:pPr>
            <a:r>
              <a:t>관제 센터 경보 발생 시에도 현장 복지사 및 보호자와의 데이터 단절로 출동 및 확인 조치 지연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457200"/>
            <a:ext cx="10332720" cy="914400"/>
          </a:xfrm>
          <a:prstGeom prst="rect">
            <a:avLst/>
          </a:prstGeom>
          <a:noFill/>
        </p:spPr>
        <p:txBody>
          <a:bodyPr wrap="none">
            <a:spAutoFit/>
          </a:bodyPr>
          <a:lstStyle/>
          <a:p>
            <a:pPr>
              <a:defRPr sz="2400" b="1">
                <a:solidFill>
                  <a:srgbClr val="F8FAFC"/>
                </a:solidFill>
                <a:latin typeface="Outfit"/>
              </a:defRPr>
            </a:pPr>
            <a:r>
              <a:t>SilverCare AI 4단계 원스톱 케어 파이프라인 (Solution)</a:t>
            </a:r>
          </a:p>
        </p:txBody>
      </p:sp>
      <p:sp>
        <p:nvSpPr>
          <p:cNvPr id="3" name="Rectangle 2"/>
          <p:cNvSpPr/>
          <p:nvPr/>
        </p:nvSpPr>
        <p:spPr>
          <a:xfrm>
            <a:off x="914400" y="2011680"/>
            <a:ext cx="2468880" cy="347472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2194560" cy="3200400"/>
          </a:xfrm>
          <a:prstGeom prst="rect">
            <a:avLst/>
          </a:prstGeom>
          <a:noFill/>
        </p:spPr>
        <p:txBody>
          <a:bodyPr wrap="square">
            <a:spAutoFit/>
          </a:bodyPr>
          <a:lstStyle/>
          <a:p>
            <a:pPr>
              <a:defRPr sz="1600" b="1">
                <a:solidFill>
                  <a:srgbClr val="38BDF8"/>
                </a:solidFill>
                <a:latin typeface="Outfit"/>
              </a:defRPr>
            </a:pPr>
            <a:r>
              <a:t>1단계: 실시간 감지</a:t>
            </a:r>
          </a:p>
          <a:p>
            <a:pPr>
              <a:spcBef>
                <a:spcPts val="2000"/>
              </a:spcBef>
              <a:defRPr sz="1200">
                <a:solidFill>
                  <a:srgbClr val="94A3B8"/>
                </a:solidFill>
                <a:latin typeface="Inter"/>
              </a:defRPr>
            </a:pPr>
            <a:r>
              <a:t>댁내 움직임 + 스마트 약통 + AI 스피커 대화 맥락 + SOS 버튼 텔레메트리 통합 수집</a:t>
            </a:r>
          </a:p>
        </p:txBody>
      </p:sp>
      <p:sp>
        <p:nvSpPr>
          <p:cNvPr id="5" name="Rectangle 4"/>
          <p:cNvSpPr/>
          <p:nvPr/>
        </p:nvSpPr>
        <p:spPr>
          <a:xfrm>
            <a:off x="3520440" y="2011680"/>
            <a:ext cx="2468880" cy="347472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2148840"/>
            <a:ext cx="2194560" cy="3200400"/>
          </a:xfrm>
          <a:prstGeom prst="rect">
            <a:avLst/>
          </a:prstGeom>
          <a:noFill/>
        </p:spPr>
        <p:txBody>
          <a:bodyPr wrap="square">
            <a:spAutoFit/>
          </a:bodyPr>
          <a:lstStyle/>
          <a:p>
            <a:pPr>
              <a:defRPr sz="1600" b="1">
                <a:solidFill>
                  <a:srgbClr val="38BDF8"/>
                </a:solidFill>
                <a:latin typeface="Outfit"/>
              </a:defRPr>
            </a:pPr>
            <a:r>
              <a:t>2단계: AI 위험 분석</a:t>
            </a:r>
          </a:p>
          <a:p>
            <a:pPr>
              <a:spcBef>
                <a:spcPts val="2000"/>
              </a:spcBef>
              <a:defRPr sz="1200">
                <a:solidFill>
                  <a:srgbClr val="94A3B8"/>
                </a:solidFill>
                <a:latin typeface="Inter"/>
              </a:defRPr>
            </a:pPr>
            <a:r>
              <a:t>AI 분석기가 위험도 4단계(정상, 주의, 경고, 긴급)로 자동 검증 및 분석 수행</a:t>
            </a:r>
          </a:p>
        </p:txBody>
      </p:sp>
      <p:sp>
        <p:nvSpPr>
          <p:cNvPr id="7" name="Rectangle 6"/>
          <p:cNvSpPr/>
          <p:nvPr/>
        </p:nvSpPr>
        <p:spPr>
          <a:xfrm>
            <a:off x="6126480" y="2011680"/>
            <a:ext cx="2468880" cy="347472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2148840"/>
            <a:ext cx="2194560" cy="3200400"/>
          </a:xfrm>
          <a:prstGeom prst="rect">
            <a:avLst/>
          </a:prstGeom>
          <a:noFill/>
        </p:spPr>
        <p:txBody>
          <a:bodyPr wrap="square">
            <a:spAutoFit/>
          </a:bodyPr>
          <a:lstStyle/>
          <a:p>
            <a:pPr>
              <a:defRPr sz="1600" b="1">
                <a:solidFill>
                  <a:srgbClr val="38BDF8"/>
                </a:solidFill>
                <a:latin typeface="Outfit"/>
              </a:defRPr>
            </a:pPr>
            <a:r>
              <a:t>3단계: 센터 관제 팝업</a:t>
            </a:r>
          </a:p>
          <a:p>
            <a:pPr>
              <a:spcBef>
                <a:spcPts val="2000"/>
              </a:spcBef>
              <a:defRPr sz="1200">
                <a:solidFill>
                  <a:srgbClr val="94A3B8"/>
                </a:solidFill>
                <a:latin typeface="Inter"/>
              </a:defRPr>
            </a:pPr>
            <a:r>
              <a:t>서울시 마포구 관제 센터 모니터에 시각 경보 및 위험 인물 자동 하이라이트</a:t>
            </a:r>
          </a:p>
        </p:txBody>
      </p:sp>
      <p:sp>
        <p:nvSpPr>
          <p:cNvPr id="9" name="Rectangle 8"/>
          <p:cNvSpPr/>
          <p:nvPr/>
        </p:nvSpPr>
        <p:spPr>
          <a:xfrm>
            <a:off x="8732520" y="2011680"/>
            <a:ext cx="2468880" cy="347472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2148840"/>
            <a:ext cx="2194560" cy="3200400"/>
          </a:xfrm>
          <a:prstGeom prst="rect">
            <a:avLst/>
          </a:prstGeom>
          <a:noFill/>
        </p:spPr>
        <p:txBody>
          <a:bodyPr wrap="square">
            <a:spAutoFit/>
          </a:bodyPr>
          <a:lstStyle/>
          <a:p>
            <a:pPr>
              <a:defRPr sz="1600" b="1">
                <a:solidFill>
                  <a:srgbClr val="38BDF8"/>
                </a:solidFill>
                <a:latin typeface="Outfit"/>
              </a:defRPr>
            </a:pPr>
            <a:r>
              <a:t>4단계: 사회복지사 출동</a:t>
            </a:r>
          </a:p>
          <a:p>
            <a:pPr>
              <a:spcBef>
                <a:spcPts val="2000"/>
              </a:spcBef>
              <a:defRPr sz="1200">
                <a:solidFill>
                  <a:srgbClr val="94A3B8"/>
                </a:solidFill>
                <a:latin typeface="Inter"/>
              </a:defRPr>
            </a:pPr>
            <a:r>
              <a:t>담당 복지사 모바일 앱에 기저질환과 현장 위치 자동 매칭 전송 및 보호자 카톡 알림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457200"/>
            <a:ext cx="10332720" cy="914400"/>
          </a:xfrm>
          <a:prstGeom prst="rect">
            <a:avLst/>
          </a:prstGeom>
          <a:noFill/>
        </p:spPr>
        <p:txBody>
          <a:bodyPr wrap="none">
            <a:spAutoFit/>
          </a:bodyPr>
          <a:lstStyle/>
          <a:p>
            <a:pPr>
              <a:defRPr sz="2400" b="1">
                <a:solidFill>
                  <a:srgbClr val="F8FAFC"/>
                </a:solidFill>
                <a:latin typeface="Outfit"/>
              </a:defRPr>
            </a:pPr>
            <a:r>
              <a:t>핵심 기술 경쟁력 및 프로토타입 시연</a:t>
            </a:r>
          </a:p>
        </p:txBody>
      </p:sp>
      <p:sp>
        <p:nvSpPr>
          <p:cNvPr id="3" name="TextBox 2"/>
          <p:cNvSpPr txBox="1"/>
          <p:nvPr/>
        </p:nvSpPr>
        <p:spPr>
          <a:xfrm>
            <a:off x="914400" y="1645920"/>
            <a:ext cx="10332720" cy="4114800"/>
          </a:xfrm>
          <a:prstGeom prst="rect">
            <a:avLst/>
          </a:prstGeom>
          <a:noFill/>
        </p:spPr>
        <p:txBody>
          <a:bodyPr wrap="square">
            <a:spAutoFit/>
          </a:bodyPr>
          <a:lstStyle/>
          <a:p/>
          <a:p>
            <a:pPr>
              <a:spcBef>
                <a:spcPts val="1000"/>
              </a:spcBef>
              <a:defRPr sz="1800" b="1">
                <a:solidFill>
                  <a:srgbClr val="38BDF8"/>
                </a:solidFill>
                <a:latin typeface="Outfit"/>
              </a:defRPr>
            </a:pPr>
            <a:r>
              <a:t>⚡ IoT 멀티 텔레메트리 융합 분석 기술</a:t>
            </a:r>
          </a:p>
          <a:p>
            <a:pPr>
              <a:spcBef>
                <a:spcPts val="400"/>
              </a:spcBef>
              <a:defRPr sz="1400">
                <a:solidFill>
                  <a:srgbClr val="94A3B8"/>
                </a:solidFill>
                <a:latin typeface="Inter"/>
              </a:defRPr>
            </a:pPr>
            <a:r>
              <a:t>24시간 활동 무반응, 연속 복약 미이행, AI 대화 중 통증/외로움 키워드 정밀 감지</a:t>
            </a:r>
          </a:p>
          <a:p>
            <a:pPr>
              <a:spcBef>
                <a:spcPts val="1000"/>
              </a:spcBef>
              <a:defRPr sz="1800" b="1">
                <a:solidFill>
                  <a:srgbClr val="38BDF8"/>
                </a:solidFill>
                <a:latin typeface="Outfit"/>
              </a:defRPr>
            </a:pPr>
            <a:r>
              <a:t>⚡ 현장 사회복지사 연계 모바일 워크플로우</a:t>
            </a:r>
          </a:p>
          <a:p>
            <a:pPr>
              <a:spcBef>
                <a:spcPts val="400"/>
              </a:spcBef>
              <a:defRPr sz="1400">
                <a:solidFill>
                  <a:srgbClr val="94A3B8"/>
                </a:solidFill>
                <a:latin typeface="Inter"/>
              </a:defRPr>
            </a:pPr>
            <a:r>
              <a:t>긴급상황 발생 시 담당 구역 복지사에 푸시 알림, 출동 지시 및 조치 보고 시 즉시 관제판 해제 연동</a:t>
            </a:r>
          </a:p>
          <a:p>
            <a:pPr>
              <a:spcBef>
                <a:spcPts val="1000"/>
              </a:spcBef>
              <a:defRPr sz="1800" b="1">
                <a:solidFill>
                  <a:srgbClr val="38BDF8"/>
                </a:solidFill>
                <a:latin typeface="Outfit"/>
              </a:defRPr>
            </a:pPr>
            <a:r>
              <a:t>⚡ SLA 벤치마크 500ms 만족</a:t>
            </a:r>
          </a:p>
          <a:p>
            <a:pPr>
              <a:spcBef>
                <a:spcPts val="400"/>
              </a:spcBef>
              <a:defRPr sz="1400">
                <a:solidFill>
                  <a:srgbClr val="94A3B8"/>
                </a:solidFill>
                <a:latin typeface="Inter"/>
              </a:defRPr>
            </a:pPr>
            <a:r>
              <a:t>실시간 비동기 패킷 파이프라인 설계를 통해 대기 시간(Latency) 최소화 구현 완료</a:t>
            </a:r>
          </a:p>
          <a:p>
            <a:pPr>
              <a:spcBef>
                <a:spcPts val="1000"/>
              </a:spcBef>
              <a:defRPr sz="1800" b="1">
                <a:solidFill>
                  <a:srgbClr val="38BDF8"/>
                </a:solidFill>
                <a:latin typeface="Outfit"/>
              </a:defRPr>
            </a:pPr>
            <a:r>
              <a:t>⚡ 프로토타입 실시 시연 (http://localhost:8085)</a:t>
            </a:r>
          </a:p>
          <a:p>
            <a:pPr>
              <a:spcBef>
                <a:spcPts val="400"/>
              </a:spcBef>
              <a:defRPr sz="1400">
                <a:solidFill>
                  <a:srgbClr val="94A3B8"/>
                </a:solidFill>
                <a:latin typeface="Inter"/>
              </a:defRPr>
            </a:pPr>
            <a:r>
              <a:t>로컬 서버 웹 대시보드와 백엔드 모의 텔레메트리 엔진(mock_telemetry.py) 연동 상태 시연 가능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457200"/>
            <a:ext cx="10332720" cy="914400"/>
          </a:xfrm>
          <a:prstGeom prst="rect">
            <a:avLst/>
          </a:prstGeom>
          <a:noFill/>
        </p:spPr>
        <p:txBody>
          <a:bodyPr wrap="none">
            <a:spAutoFit/>
          </a:bodyPr>
          <a:lstStyle/>
          <a:p>
            <a:pPr>
              <a:defRPr sz="2400" b="1">
                <a:solidFill>
                  <a:srgbClr val="F8FAFC"/>
                </a:solidFill>
                <a:latin typeface="Outfit"/>
              </a:defRPr>
            </a:pPr>
            <a:r>
              <a:t>비즈니스 모델 및 성장 로드맵</a:t>
            </a:r>
          </a:p>
        </p:txBody>
      </p:sp>
      <p:sp>
        <p:nvSpPr>
          <p:cNvPr id="3" name="Rounded Rectangle 2"/>
          <p:cNvSpPr/>
          <p:nvPr/>
        </p:nvSpPr>
        <p:spPr>
          <a:xfrm>
            <a:off x="914400" y="1645920"/>
            <a:ext cx="10332720" cy="1188720"/>
          </a:xfrm>
          <a:prstGeom prst="round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9966960" cy="914400"/>
          </a:xfrm>
          <a:prstGeom prst="rect">
            <a:avLst/>
          </a:prstGeom>
          <a:noFill/>
        </p:spPr>
        <p:txBody>
          <a:bodyPr wrap="square">
            <a:spAutoFit/>
          </a:bodyPr>
          <a:lstStyle/>
          <a:p>
            <a:pPr>
              <a:defRPr sz="1800" b="1">
                <a:solidFill>
                  <a:srgbClr val="38BDF8"/>
                </a:solidFill>
                <a:latin typeface="Outfit"/>
              </a:defRPr>
            </a:pPr>
            <a:r>
              <a:t>B2G (공공 돌봄)</a:t>
            </a:r>
          </a:p>
          <a:p>
            <a:pPr>
              <a:spcBef>
                <a:spcPts val="600"/>
              </a:spcBef>
              <a:defRPr sz="1300">
                <a:solidFill>
                  <a:srgbClr val="94A3B8"/>
                </a:solidFill>
                <a:latin typeface="Inter"/>
              </a:defRPr>
            </a:pPr>
            <a:r>
              <a:t>지자체/보건소/복지관 대상 구축비 + 가구당 월 관제 리스료 (12,000원/월)</a:t>
            </a:r>
          </a:p>
        </p:txBody>
      </p:sp>
      <p:sp>
        <p:nvSpPr>
          <p:cNvPr id="5" name="Rounded Rectangle 4"/>
          <p:cNvSpPr/>
          <p:nvPr/>
        </p:nvSpPr>
        <p:spPr>
          <a:xfrm>
            <a:off x="914400" y="3108960"/>
            <a:ext cx="10332720" cy="1188720"/>
          </a:xfrm>
          <a:prstGeom prst="round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246120"/>
            <a:ext cx="9966960" cy="914400"/>
          </a:xfrm>
          <a:prstGeom prst="rect">
            <a:avLst/>
          </a:prstGeom>
          <a:noFill/>
        </p:spPr>
        <p:txBody>
          <a:bodyPr wrap="square">
            <a:spAutoFit/>
          </a:bodyPr>
          <a:lstStyle/>
          <a:p>
            <a:pPr>
              <a:defRPr sz="1800" b="1">
                <a:solidFill>
                  <a:srgbClr val="38BDF8"/>
                </a:solidFill>
                <a:latin typeface="Outfit"/>
              </a:defRPr>
            </a:pPr>
            <a:r>
              <a:t>B2C (민간 돌봄)</a:t>
            </a:r>
          </a:p>
          <a:p>
            <a:pPr>
              <a:spcBef>
                <a:spcPts val="600"/>
              </a:spcBef>
              <a:defRPr sz="1300">
                <a:solidFill>
                  <a:srgbClr val="94A3B8"/>
                </a:solidFill>
                <a:latin typeface="Inter"/>
              </a:defRPr>
            </a:pPr>
            <a:r>
              <a:t>타지 거주 자녀 대상 프리미엄 안심 케어 구독 (19,900원/월, 주간 보고서 제공)</a:t>
            </a:r>
          </a:p>
        </p:txBody>
      </p:sp>
      <p:sp>
        <p:nvSpPr>
          <p:cNvPr id="7" name="Rounded Rectangle 6"/>
          <p:cNvSpPr/>
          <p:nvPr/>
        </p:nvSpPr>
        <p:spPr>
          <a:xfrm>
            <a:off x="914400" y="4572000"/>
            <a:ext cx="10332720" cy="1188720"/>
          </a:xfrm>
          <a:prstGeom prst="round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709160"/>
            <a:ext cx="9966960" cy="914400"/>
          </a:xfrm>
          <a:prstGeom prst="rect">
            <a:avLst/>
          </a:prstGeom>
          <a:noFill/>
        </p:spPr>
        <p:txBody>
          <a:bodyPr wrap="square">
            <a:spAutoFit/>
          </a:bodyPr>
          <a:lstStyle/>
          <a:p>
            <a:pPr>
              <a:defRPr sz="1800" b="1">
                <a:solidFill>
                  <a:srgbClr val="38BDF8"/>
                </a:solidFill>
                <a:latin typeface="Outfit"/>
              </a:defRPr>
            </a:pPr>
            <a:r>
              <a:t>B2B (실버타운 연계)</a:t>
            </a:r>
          </a:p>
          <a:p>
            <a:pPr>
              <a:spcBef>
                <a:spcPts val="600"/>
              </a:spcBef>
              <a:defRPr sz="1300">
                <a:solidFill>
                  <a:srgbClr val="94A3B8"/>
                </a:solidFill>
                <a:latin typeface="Inter"/>
              </a:defRPr>
            </a:pPr>
            <a:r>
              <a:t>요양병원, 실버타운, 요양원 내 API 및 데이터 연동 라이선스 모델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457200"/>
            <a:ext cx="10332720" cy="914400"/>
          </a:xfrm>
          <a:prstGeom prst="rect">
            <a:avLst/>
          </a:prstGeom>
          <a:noFill/>
        </p:spPr>
        <p:txBody>
          <a:bodyPr wrap="none">
            <a:spAutoFit/>
          </a:bodyPr>
          <a:lstStyle/>
          <a:p>
            <a:pPr>
              <a:defRPr sz="2400" b="1">
                <a:solidFill>
                  <a:srgbClr val="F8FAFC"/>
                </a:solidFill>
                <a:latin typeface="Outfit"/>
              </a:defRPr>
            </a:pPr>
            <a:r>
              <a:t>팀 역량 및 2억원 사업비 집행 계획 (Team &amp; Budget)</a:t>
            </a:r>
          </a:p>
        </p:txBody>
      </p:sp>
      <p:sp>
        <p:nvSpPr>
          <p:cNvPr id="3" name="Rectangle 2"/>
          <p:cNvSpPr/>
          <p:nvPr/>
        </p:nvSpPr>
        <p:spPr>
          <a:xfrm>
            <a:off x="914400" y="1645920"/>
            <a:ext cx="246888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783080"/>
            <a:ext cx="2194560" cy="3840480"/>
          </a:xfrm>
          <a:prstGeom prst="rect">
            <a:avLst/>
          </a:prstGeom>
          <a:noFill/>
        </p:spPr>
        <p:txBody>
          <a:bodyPr wrap="square">
            <a:spAutoFit/>
          </a:bodyPr>
          <a:lstStyle/>
          <a:p>
            <a:pPr>
              <a:defRPr sz="1500" b="1">
                <a:solidFill>
                  <a:srgbClr val="38BDF8"/>
                </a:solidFill>
                <a:latin typeface="Outfit"/>
              </a:defRPr>
            </a:pPr>
            <a:r>
              <a:t>인건비 (40%)</a:t>
            </a:r>
          </a:p>
          <a:p>
            <a:pPr>
              <a:spcBef>
                <a:spcPts val="1000"/>
              </a:spcBef>
              <a:defRPr sz="1800" b="1">
                <a:solidFill>
                  <a:srgbClr val="10B981"/>
                </a:solidFill>
                <a:latin typeface="Outfit"/>
              </a:defRPr>
            </a:pPr>
            <a:r>
              <a:t>80,000,000원</a:t>
            </a:r>
          </a:p>
          <a:p>
            <a:pPr>
              <a:spcBef>
                <a:spcPts val="1500"/>
              </a:spcBef>
              <a:defRPr sz="1100">
                <a:solidFill>
                  <a:srgbClr val="94A3B8"/>
                </a:solidFill>
                <a:latin typeface="Inter"/>
              </a:defRPr>
            </a:pPr>
            <a:r>
              <a:t>AI 관제 알고리즘, 실시간 웹서버 및 사회복지사 연계 모바일 연동 인력 구성</a:t>
            </a:r>
          </a:p>
        </p:txBody>
      </p:sp>
      <p:sp>
        <p:nvSpPr>
          <p:cNvPr id="5" name="Rectangle 4"/>
          <p:cNvSpPr/>
          <p:nvPr/>
        </p:nvSpPr>
        <p:spPr>
          <a:xfrm>
            <a:off x="3520440" y="1645920"/>
            <a:ext cx="246888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1783080"/>
            <a:ext cx="2194560" cy="3840480"/>
          </a:xfrm>
          <a:prstGeom prst="rect">
            <a:avLst/>
          </a:prstGeom>
          <a:noFill/>
        </p:spPr>
        <p:txBody>
          <a:bodyPr wrap="square">
            <a:spAutoFit/>
          </a:bodyPr>
          <a:lstStyle/>
          <a:p>
            <a:pPr>
              <a:defRPr sz="1500" b="1">
                <a:solidFill>
                  <a:srgbClr val="38BDF8"/>
                </a:solidFill>
                <a:latin typeface="Outfit"/>
              </a:defRPr>
            </a:pPr>
            <a:r>
              <a:t>연구장비 및 재료비 (35%)</a:t>
            </a:r>
          </a:p>
          <a:p>
            <a:pPr>
              <a:spcBef>
                <a:spcPts val="1000"/>
              </a:spcBef>
              <a:defRPr sz="1800" b="1">
                <a:solidFill>
                  <a:srgbClr val="10B981"/>
                </a:solidFill>
                <a:latin typeface="Outfit"/>
              </a:defRPr>
            </a:pPr>
            <a:r>
              <a:t>70,000,000원</a:t>
            </a:r>
          </a:p>
          <a:p>
            <a:pPr>
              <a:spcBef>
                <a:spcPts val="1500"/>
              </a:spcBef>
              <a:defRPr sz="1100">
                <a:solidFill>
                  <a:srgbClr val="94A3B8"/>
                </a:solidFill>
                <a:latin typeface="Inter"/>
              </a:defRPr>
            </a:pPr>
            <a:r>
              <a:t>어르신 댁내 IoT 센서(약통, 움직임 감지기), 모의 하네스 구축 장비비</a:t>
            </a:r>
          </a:p>
        </p:txBody>
      </p:sp>
      <p:sp>
        <p:nvSpPr>
          <p:cNvPr id="7" name="Rectangle 6"/>
          <p:cNvSpPr/>
          <p:nvPr/>
        </p:nvSpPr>
        <p:spPr>
          <a:xfrm>
            <a:off x="6126480" y="1645920"/>
            <a:ext cx="246888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783080"/>
            <a:ext cx="2194560" cy="3840480"/>
          </a:xfrm>
          <a:prstGeom prst="rect">
            <a:avLst/>
          </a:prstGeom>
          <a:noFill/>
        </p:spPr>
        <p:txBody>
          <a:bodyPr wrap="square">
            <a:spAutoFit/>
          </a:bodyPr>
          <a:lstStyle/>
          <a:p>
            <a:pPr>
              <a:defRPr sz="1500" b="1">
                <a:solidFill>
                  <a:srgbClr val="38BDF8"/>
                </a:solidFill>
                <a:latin typeface="Outfit"/>
              </a:defRPr>
            </a:pPr>
            <a:r>
              <a:t>사업화 및 마케팅비 (15%)</a:t>
            </a:r>
          </a:p>
          <a:p>
            <a:pPr>
              <a:spcBef>
                <a:spcPts val="1000"/>
              </a:spcBef>
              <a:defRPr sz="1800" b="1">
                <a:solidFill>
                  <a:srgbClr val="10B981"/>
                </a:solidFill>
                <a:latin typeface="Outfit"/>
              </a:defRPr>
            </a:pPr>
            <a:r>
              <a:t>30,000,000원</a:t>
            </a:r>
          </a:p>
          <a:p>
            <a:pPr>
              <a:spcBef>
                <a:spcPts val="1500"/>
              </a:spcBef>
              <a:defRPr sz="1100">
                <a:solidFill>
                  <a:srgbClr val="94A3B8"/>
                </a:solidFill>
                <a:latin typeface="Inter"/>
              </a:defRPr>
            </a:pPr>
            <a:r>
              <a:t>서울시 마포구 PoC 시범 사업 및 지자체 스마트복지 바우처 판로 개척비</a:t>
            </a:r>
          </a:p>
        </p:txBody>
      </p:sp>
      <p:sp>
        <p:nvSpPr>
          <p:cNvPr id="9" name="Rectangle 8"/>
          <p:cNvSpPr/>
          <p:nvPr/>
        </p:nvSpPr>
        <p:spPr>
          <a:xfrm>
            <a:off x="8732520" y="1645920"/>
            <a:ext cx="2468880" cy="4114800"/>
          </a:xfrm>
          <a:prstGeom prst="rect">
            <a:avLst/>
          </a:prstGeom>
          <a:solidFill>
            <a:srgbClr val="0D152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783080"/>
            <a:ext cx="2194560" cy="3840480"/>
          </a:xfrm>
          <a:prstGeom prst="rect">
            <a:avLst/>
          </a:prstGeom>
          <a:noFill/>
        </p:spPr>
        <p:txBody>
          <a:bodyPr wrap="square">
            <a:spAutoFit/>
          </a:bodyPr>
          <a:lstStyle/>
          <a:p>
            <a:pPr>
              <a:defRPr sz="1500" b="1">
                <a:solidFill>
                  <a:srgbClr val="38BDF8"/>
                </a:solidFill>
                <a:latin typeface="Outfit"/>
              </a:defRPr>
            </a:pPr>
            <a:r>
              <a:t>위탁개발 및 자문비 (10%)</a:t>
            </a:r>
          </a:p>
          <a:p>
            <a:pPr>
              <a:spcBef>
                <a:spcPts val="1000"/>
              </a:spcBef>
              <a:defRPr sz="1800" b="1">
                <a:solidFill>
                  <a:srgbClr val="10B981"/>
                </a:solidFill>
                <a:latin typeface="Outfit"/>
              </a:defRPr>
            </a:pPr>
            <a:r>
              <a:t>20,000,000원</a:t>
            </a:r>
          </a:p>
          <a:p>
            <a:pPr>
              <a:spcBef>
                <a:spcPts val="1500"/>
              </a:spcBef>
              <a:defRPr sz="1100">
                <a:solidFill>
                  <a:srgbClr val="94A3B8"/>
                </a:solidFill>
                <a:latin typeface="Inter"/>
              </a:defRPr>
            </a:pPr>
            <a:r>
              <a:t>사회복지 전문가 자문, 데이터 프라이버시 및 보안 법률 가이드 확보비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0913"/>
        </a:solidFill>
        <a:effectLst/>
      </p:bgPr>
    </p:bg>
    <p:spTree>
      <p:nvGrpSpPr>
        <p:cNvPr id="1" name=""/>
        <p:cNvGrpSpPr/>
        <p:nvPr/>
      </p:nvGrpSpPr>
      <p:grpSpPr/>
      <p:sp>
        <p:nvSpPr>
          <p:cNvPr id="2" name="TextBox 1"/>
          <p:cNvSpPr txBox="1"/>
          <p:nvPr/>
        </p:nvSpPr>
        <p:spPr>
          <a:xfrm>
            <a:off x="914400" y="2011680"/>
            <a:ext cx="10332720" cy="3200400"/>
          </a:xfrm>
          <a:prstGeom prst="rect">
            <a:avLst/>
          </a:prstGeom>
          <a:noFill/>
        </p:spPr>
        <p:txBody>
          <a:bodyPr wrap="square">
            <a:spAutoFit/>
          </a:bodyPr>
          <a:lstStyle/>
          <a:p>
            <a:pPr algn="ctr">
              <a:defRPr sz="2800" b="1">
                <a:solidFill>
                  <a:srgbClr val="38BDF8"/>
                </a:solidFill>
                <a:latin typeface="Outfit"/>
              </a:defRPr>
            </a:pPr>
            <a:r>
              <a:t>기술로 단 한 명의 어르신도 방치되지 않는 따뜻한 사회</a:t>
            </a:r>
          </a:p>
          <a:p>
            <a:pPr algn="ctr">
              <a:spcBef>
                <a:spcPts val="3000"/>
              </a:spcBef>
              <a:defRPr sz="2000">
                <a:solidFill>
                  <a:srgbClr val="F8FAFC"/>
                </a:solidFill>
                <a:latin typeface="Inter"/>
              </a:defRPr>
            </a:pPr>
            <a:r>
              <a:t>경청해 주셔서 감사합니다. 질의응답에 성심껏 답변드리겠습니다.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